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доклада — расчётный метод, который в реальных рабочих условиях двигателя оценивает необратимое тепловое размагничивание магнита и помогает обосновать выбор материала.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Магнит зажат между нагревом и полем реакции якоря. Оба толкают его к размагничиванию, и часть потери — необратимая.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слайд. Рабочая точка магнита лежит на нагрузочной прямой — её наклон задан геометрией: толщиной магнита и зазором. При нагреве точка съезжает по ЭТОЙ ЖЕ прямой вниз, и размагничивающее поле в магните даже уменьшается — с 201 до 171 килоампера на метр. Но колено идёт к нулю впятеро быстрее: за 130 градусов оно уезжает с 1353 до 386. То есть за колено магнит уходит не потому, что поле выросло, а потому что колено догнало точку — запас падает с 1152 до 215. Одного нагрева ещё мало. Добивает ток: реакция якоря при перегрузе сдвигает нагрузочную прямую влево, точка уходит за колено — и вот это уже необратимая потеря.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либо переплачивают тяжёлыми РЗМ, либо переразмеривают машину. Инструмента, дающего вердикт в рабочих условиях, нет — это и есть ниша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Поле даёт потери, потери греют, температура меняет магнит, магнит меняет поле. Круг замкнут — считаем как одну связанную задачу до выхода на установившуюся температуру.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опоры метода: МКЭ 2D; модель магнита, которая сама рассчитывает кривую при нужной температуре; учёт необратимости по линии возврата; счёт по времени до установившегося состояния с распознаванием разгона.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независимых проверки: точные аналитические решения, баланс энергии и реальный двигатель. Главное — числа не подгонялись под ответ.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схема, а результат расчёта: каждая ячейка сечения окрашена фактической долей сохранённой ремнантности. Режим один и тот же для всей машины — среда 130 градусов, ток 40 ампер, рабочая точка по оси q. Главное, что видно: соседние полюса повреждены совершенно по-разному. Два полюса остались целы, а самые нагруженные потеряли до девяноста одного процента объёма. Причина — сочетание двенадцати пазов и четырнадцати полюсов: каждый полюс стоит в своём положении относительно поля обмотки. Что это доказывает: оценка по одной «худшей точке» или по среднему такую картину не даёт в принципе — нужен расчёт поля по всему объёму. И это не численный шум: картина имеет двукратную симметрию, ровно как требует наибольший общий делитель двенадцати и четырнадцати, равный двум.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результат для этой аудитории: в насыщенной машине переход на SmCo стоит всего около трёх процентов момента, а термостойкость сохраняется. Цена перехода определяется насыщением, то есть геометрией.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SmCo не содержит тяжёлых редкоземельных Dy и Tb. Метод помогает подбирать отечественные магниты под конкретные теплонагруженные машины — это прямой вклад в импортозамещение.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ядро построено и проверено. Дальше — нейросетевой суррогат и оптимизация. И главное для зала: ищу измеренные SmCo для валидации, приглашаю к сотрудничеству. 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Расчётный метод оценки стойкости постоянных магнитов к тепловому размагничиванию и обоснования выбора материала в электродвигателях БПЛА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3977640"/>
            <a:ext cx="164592" cy="164592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397764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3977640"/>
            <a:ext cx="164592" cy="16459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4343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Рубцов С. А.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 1 категории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«НПП «Исток» им. А. И. Шокина», г. Фрязино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Всероссийская НТК «Постоянные магниты: наука и технологии, производство, применение»   ·   Москва, 6–7 октября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Проблема: магнит работает у предела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146304" cy="146304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теплонагруженном двигателе БПЛА на магнит действуют два фактора, способствующих размагничиванию: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24912"/>
            <a:ext cx="603504" cy="603504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249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4015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44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Высокая температура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803904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нагрев поднимает кривую размагничивания: колено приближается к рабочей точке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74920" y="2724912"/>
            <a:ext cx="603504" cy="603504"/>
          </a:xfrm>
          <a:prstGeom prst="ellipse">
            <a:avLst/>
          </a:prstGeom>
          <a:solidFill>
            <a:srgbClr val="2E6C99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7249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34015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C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Поле реакции якоря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803904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 обмотки создаёт встречное, размагничивающее магнитное поле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98348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DECEA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9834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3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</a:t>
            </a:r>
            <a:pPr algn="l" indent="0" marL="0">
              <a:buNone/>
            </a:pPr>
            <a:r>
              <a:rPr lang="en-US" sz="18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необратимой потери намагниченности — двигатель безвозвратно теряет момент.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Необратимое размагничивание: что происходит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146304" cy="146304"/>
          </a:xfrm>
          <a:prstGeom prst="ellipse">
            <a:avLst/>
          </a:prstGeom>
          <a:solidFill>
            <a:srgbClr val="E1442F"/>
          </a:solidFill>
          <a:ln/>
        </p:spPr>
      </p:sp>
      <p:pic>
        <p:nvPicPr>
          <p:cNvPr id="4" name="Image 0" descr="C:/Users/arena/Desktop/Programmer/Диссертация/magnet-platform/docs/papers/experiments/figs/fig_knee_loadline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3949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828800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6" name="Text 3"/>
          <p:cNvSpPr/>
          <p:nvPr/>
        </p:nvSpPr>
        <p:spPr>
          <a:xfrm>
            <a:off x="6126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720840" y="17830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Холодный магнит: рабочая точка далеко от колена.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126480" y="3108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720840" y="30632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Нагрев двигает не точку, а КОЛЕНО — запас падает в разы.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126480" y="4389120"/>
            <a:ext cx="457200" cy="457200"/>
          </a:xfrm>
          <a:prstGeom prst="ellipse">
            <a:avLst/>
          </a:prstGeom>
          <a:solidFill>
            <a:srgbClr val="D63B2A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720840" y="43434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Реакция якоря уводит точку за колено — потеря навсегда.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защищаются сейчас — и чего не хватает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146304" cy="146304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5544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05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3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Запас по коэрцитивной силе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 тяжёлых редкоземельных элементов 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1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(Dy, Tb)</a:t>
            </a:r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дефицитных и импортозависимых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8105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3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Увеличение габаритов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23317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двигатель становится тяжелее и дороже — критично для летательного аппарата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8138160" cy="1691640"/>
          </a:xfrm>
          <a:prstGeom prst="roundRect">
            <a:avLst>
              <a:gd name="adj" fmla="val 4324"/>
            </a:avLst>
          </a:prstGeom>
          <a:solidFill>
            <a:srgbClr val="EAF1F7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206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C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Чего нет: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расчётного метода, который даёт вердикт о необратимом размагничивании в реальных условиях машины и обосновывает выбор материала.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Идея: считать поле, тепло и размагничивание совместно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146304" cy="146304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4" name="Shape 2"/>
          <p:cNvSpPr/>
          <p:nvPr/>
        </p:nvSpPr>
        <p:spPr>
          <a:xfrm>
            <a:off x="3246120" y="17373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55848" y="173736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E6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Электромагнитный расчёт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E6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(поле, потери)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394960" y="41605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04688" y="4160520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1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Тепловой расчёт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1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(температура растёт)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97280" y="41605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07008" y="4160520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Магнит слабеет: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B(H,T), необратимость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120640" y="2377440"/>
            <a:ext cx="1188720" cy="1737360"/>
          </a:xfrm>
          <a:prstGeom prst="line">
            <a:avLst/>
          </a:prstGeom>
          <a:noFill/>
          <a:ln w="38100">
            <a:solidFill>
              <a:srgbClr val="E1442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3657600" y="5120640"/>
            <a:ext cx="1554480" cy="0"/>
          </a:xfrm>
          <a:prstGeom prst="line">
            <a:avLst/>
          </a:prstGeom>
          <a:noFill/>
          <a:ln w="38100">
            <a:solidFill>
              <a:srgbClr val="D63B2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2286000" y="2651760"/>
            <a:ext cx="1280160" cy="1463040"/>
          </a:xfrm>
          <a:prstGeom prst="line">
            <a:avLst/>
          </a:prstGeom>
          <a:noFill/>
          <a:ln w="38100">
            <a:solidFill>
              <a:srgbClr val="2FA36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8064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потери → нагрев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5230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температура → свойства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поле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единая связанная задача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59436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влияет друг на друга, поэтому решается совместно — до установившегося теплового состояния.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устроен расчёт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146304" cy="146304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00200"/>
            <a:ext cx="81381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30352" cy="530352"/>
          </a:xfrm>
          <a:prstGeom prst="ellipse">
            <a:avLst/>
          </a:prstGeom>
          <a:solidFill>
            <a:srgbClr val="2E6C9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68580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конечных элементов в двумерной постановке.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81381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807208"/>
            <a:ext cx="530352" cy="530352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07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B(T)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624328"/>
            <a:ext cx="68580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Магнит — модель B(H,T): по параметрам и температурным коэффициентам строит кривую при любой температуре.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3648456"/>
            <a:ext cx="81381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31336"/>
            <a:ext cx="530352" cy="53035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313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648456"/>
            <a:ext cx="68580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Необратимость — по линии возврата: запоминается наиболее неблагоприятная точка за историю нагружения.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672584"/>
            <a:ext cx="81381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855464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554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672584"/>
            <a:ext cx="68580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Считаем по времени до установившейся температуры; дополнительно распознаём тепловой разгон.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Достоверность — без подгонки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146304" cy="146304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9164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2011680"/>
            <a:ext cx="768096" cy="768096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6" name="Text 4"/>
          <p:cNvSpPr/>
          <p:nvPr/>
        </p:nvSpPr>
        <p:spPr>
          <a:xfrm>
            <a:off x="1353312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Точное решение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задачами, имеющими точное аналитическое решение.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87952" y="2011680"/>
            <a:ext cx="768096" cy="768096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1" name="Text 9"/>
          <p:cNvSpPr/>
          <p:nvPr/>
        </p:nvSpPr>
        <p:spPr>
          <a:xfrm>
            <a:off x="4187952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Баланс энергии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474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энергетического баланса в ходе расчёта.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22592" y="2011680"/>
            <a:ext cx="768096" cy="768096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6" name="Text 14"/>
          <p:cNvSpPr/>
          <p:nvPr/>
        </p:nvSpPr>
        <p:spPr>
          <a:xfrm>
            <a:off x="7022592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5508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Реальный двигатель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474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на двигателе с паспортными данными.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7548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C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Параметры модели не настраивались под ожидаемый результат.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 1: карта риска по сечению магнита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146304" cy="146304"/>
          </a:xfrm>
          <a:prstGeom prst="ellipse">
            <a:avLst/>
          </a:prstGeom>
          <a:solidFill>
            <a:srgbClr val="E1442F"/>
          </a:solidFill>
          <a:ln/>
        </p:spPr>
      </p:sp>
      <p:pic>
        <p:nvPicPr>
          <p:cNvPr id="4" name="Image 0" descr="C:/Users/arena/Desktop/Programmer/Диссертация/magnet-platform/docs/papers/experiments/figs/fig_risk_map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429768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965960"/>
            <a:ext cx="256032" cy="256032"/>
          </a:xfrm>
          <a:prstGeom prst="ellipse">
            <a:avLst/>
          </a:prstGeom>
          <a:solidFill>
            <a:srgbClr val="D63B2A"/>
          </a:solidFill>
          <a:ln/>
        </p:spPr>
      </p:sp>
      <p:sp>
        <p:nvSpPr>
          <p:cNvPr id="6" name="Text 3"/>
          <p:cNvSpPr/>
          <p:nvPr/>
        </p:nvSpPr>
        <p:spPr>
          <a:xfrm>
            <a:off x="5257800" y="18288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Соседние полюса повреждены по-разному: от нетронутого до 91 % объёма — в одном и том же режиме.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846320" y="3200400"/>
            <a:ext cx="256032" cy="256032"/>
          </a:xfrm>
          <a:prstGeom prst="ellipse">
            <a:avLst/>
          </a:prstGeom>
          <a:solidFill>
            <a:srgbClr val="2E6C99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30632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оценка «по худшей точке» этого не покажет — нужен расчёт поля.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846320" y="443484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5257800" y="42976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Дальше: что стало с характеристиками и где граница по нагреву.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 2: обоснование выбора материала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146304" cy="146304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насыщенном магнитопроводе замена Nd-Fe-B → Sm-Co: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FDECEA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4688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144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−3 %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падение момента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 рассмотренном примере)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214884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E7F4EC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423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A3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937760" y="3520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выигрыш по температурной стойкости — сохраняется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461772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61772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Величину потери определяет насыщение магнитопровода — то есть геометрия машины, а не только магнит.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Sm-Co и импортозамещение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146304" cy="146304"/>
          </a:xfrm>
          <a:prstGeom prst="ellipse">
            <a:avLst/>
          </a:prstGeom>
          <a:solidFill>
            <a:srgbClr val="E1442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9164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566928" cy="566928"/>
          </a:xfrm>
          <a:prstGeom prst="ellipse">
            <a:avLst/>
          </a:prstGeom>
          <a:solidFill>
            <a:srgbClr val="2E6C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3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Без тяжёлых РЗМ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2585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Sm-Co — самарий и кобальт, без диспрозия и тербия.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73552"/>
            <a:ext cx="566928" cy="566928"/>
          </a:xfrm>
          <a:prstGeom prst="ellipse">
            <a:avLst/>
          </a:prstGeom>
          <a:solidFill>
            <a:srgbClr val="2E6C9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73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3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Отечественные марки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584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подбирает наши магниты под теплонагруженные применения.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599432"/>
            <a:ext cx="566928" cy="566928"/>
          </a:xfrm>
          <a:prstGeom prst="ellipse">
            <a:avLst/>
          </a:prstGeom>
          <a:solidFill>
            <a:srgbClr val="2E6C9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99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4805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30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Меньше зависимости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9103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потребности в дефицитном импортном сырье.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Итог и перспективы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Сделано:  </a:t>
            </a:r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связанный магнитотепловой расчёт с необратимым размагничиванием, проверка достоверности, программный комплекс с интерфейсом.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Далее:  </a:t>
            </a:r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C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ускоренная нейросетевая суррогатная модель и оптимизация конструкций двигателей БПЛА.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3611880"/>
            <a:ext cx="8138160" cy="1371600"/>
          </a:xfrm>
          <a:prstGeom prst="roundRect">
            <a:avLst>
              <a:gd name="adj" fmla="val 5333"/>
            </a:avLst>
          </a:prstGeom>
          <a:solidFill>
            <a:srgbClr val="2A3A4C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6118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E1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Приглашаю к сотрудничеству:  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A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 измеренные характеристики магнитов Sm-Co для валидации — производителям и исследователям.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52578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Рубцов Сергей Александрович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E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«НПП «Исток» им. А. И. Шокина», г. Фрязино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FE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rubczov.serg@yandex.ru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Рубцов С.А.</dc:creator>
  <cp:lastModifiedBy>Рубцов С.А.</cp:lastModifiedBy>
  <cp:revision>1</cp:revision>
  <dcterms:created xsi:type="dcterms:W3CDTF">2026-08-27T09:05:13Z</dcterms:created>
  <dcterms:modified xsi:type="dcterms:W3CDTF">2026-08-27T09:05:13Z</dcterms:modified>
</cp:coreProperties>
</file>